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f324bf4b14a8c" /><Relationship Type="http://schemas.openxmlformats.org/officeDocument/2006/relationships/extended-properties" Target="/docProps/app.xml" Id="R2582186460404d0a" /><Relationship Type="http://schemas.openxmlformats.org/officeDocument/2006/relationships/officeDocument" Target="/ppt/presentation.xml" Id="R5c047539dbe2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c1ff3ddeb4d19"/>
  </p:sldMasterIdLst>
  <p:notesMasterIdLst>
    <p:notesMasterId xmlns:r="http://schemas.openxmlformats.org/officeDocument/2006/relationships" r:id="R00d15be4fe254090"/>
  </p:notesMasterIdLst>
  <p:sldIdLst>
    <p:sldId xmlns:r="http://schemas.openxmlformats.org/officeDocument/2006/relationships" id="256" r:id="R28b99884f1704416"/>
    <p:sldId xmlns:r="http://schemas.openxmlformats.org/officeDocument/2006/relationships" id="257" r:id="R66b29ef303284258"/>
    <p:sldId xmlns:r="http://schemas.openxmlformats.org/officeDocument/2006/relationships" id="258" r:id="Rf94e435ce3da4bf3"/>
    <p:sldId xmlns:r="http://schemas.openxmlformats.org/officeDocument/2006/relationships" id="259" r:id="R4ee16e2c492f4140"/>
    <p:sldId xmlns:r="http://schemas.openxmlformats.org/officeDocument/2006/relationships" id="260" r:id="R735e39b747d44d9e"/>
    <p:sldId xmlns:r="http://schemas.openxmlformats.org/officeDocument/2006/relationships" id="261" r:id="R822294ae1bb84290"/>
    <p:sldId xmlns:r="http://schemas.openxmlformats.org/officeDocument/2006/relationships" id="262" r:id="R3737992ed1ce4c8d"/>
    <p:sldId xmlns:r="http://schemas.openxmlformats.org/officeDocument/2006/relationships" id="263" r:id="Rd7ff76c6a88847f1"/>
    <p:sldId xmlns:r="http://schemas.openxmlformats.org/officeDocument/2006/relationships" id="264" r:id="Rd814ef70d0e14f1b"/>
    <p:sldId xmlns:r="http://schemas.openxmlformats.org/officeDocument/2006/relationships" id="265" r:id="Rc392eea5ae394f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c3b7ae7efd4abb" /><Relationship Type="http://schemas.openxmlformats.org/officeDocument/2006/relationships/slideMaster" Target="/ppt/slideMasters/slideMaster1.xml" Id="Rc9dc1ff3ddeb4d19" /><Relationship Type="http://schemas.openxmlformats.org/officeDocument/2006/relationships/notesMaster" Target="/ppt/notesMasters/notesMaster1.xml" Id="R00d15be4fe254090" /><Relationship Type="http://schemas.openxmlformats.org/officeDocument/2006/relationships/presProps" Target="/ppt/presProps.xml" Id="Rc2db18a417dd4f1f" /><Relationship Type="http://schemas.openxmlformats.org/officeDocument/2006/relationships/tableStyles" Target="/ppt/tableStyles.xml" Id="R0e55c59b3c45495c" /><Relationship Type="http://schemas.openxmlformats.org/officeDocument/2006/relationships/slide" Target="/ppt/slides/slide1.xml" Id="R28b99884f1704416" /><Relationship Type="http://schemas.openxmlformats.org/officeDocument/2006/relationships/slide" Target="/ppt/slides/slide2.xml" Id="R66b29ef303284258" /><Relationship Type="http://schemas.openxmlformats.org/officeDocument/2006/relationships/slide" Target="/ppt/slides/slide3.xml" Id="Rf94e435ce3da4bf3" /><Relationship Type="http://schemas.openxmlformats.org/officeDocument/2006/relationships/slide" Target="/ppt/slides/slide4.xml" Id="R4ee16e2c492f4140" /><Relationship Type="http://schemas.openxmlformats.org/officeDocument/2006/relationships/slide" Target="/ppt/slides/slide5.xml" Id="R735e39b747d44d9e" /><Relationship Type="http://schemas.openxmlformats.org/officeDocument/2006/relationships/slide" Target="/ppt/slides/slide6.xml" Id="R822294ae1bb84290" /><Relationship Type="http://schemas.openxmlformats.org/officeDocument/2006/relationships/slide" Target="/ppt/slides/slide7.xml" Id="R3737992ed1ce4c8d" /><Relationship Type="http://schemas.openxmlformats.org/officeDocument/2006/relationships/slide" Target="/ppt/slides/slide8.xml" Id="Rd7ff76c6a88847f1" /><Relationship Type="http://schemas.openxmlformats.org/officeDocument/2006/relationships/slide" Target="/ppt/slides/slide9.xml" Id="Rd814ef70d0e14f1b" /><Relationship Type="http://schemas.openxmlformats.org/officeDocument/2006/relationships/slide" Target="/ppt/slides/slide10.xml" Id="Rc392eea5ae39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2af6ee54d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5af57c3304b88" /><Relationship Type="http://schemas.openxmlformats.org/officeDocument/2006/relationships/notesMaster" Target="/ppt/notesMasters/notesMaster1.xml" Id="R4528fc61b39846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16ca12f274f52" /><Relationship Type="http://schemas.openxmlformats.org/officeDocument/2006/relationships/notesMaster" Target="/ppt/notesMasters/notesMaster1.xml" Id="R46eaea5bdc744a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5892dd389940a0" /><Relationship Type="http://schemas.openxmlformats.org/officeDocument/2006/relationships/notesMaster" Target="/ppt/notesMasters/notesMaster1.xml" Id="R172f4742e838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693feadfb43b8" /><Relationship Type="http://schemas.openxmlformats.org/officeDocument/2006/relationships/notesMaster" Target="/ppt/notesMasters/notesMaster1.xml" Id="Rf9879081ff89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7a7e0ed524016" /><Relationship Type="http://schemas.openxmlformats.org/officeDocument/2006/relationships/notesMaster" Target="/ppt/notesMasters/notesMaster1.xml" Id="Raeaed1f342d0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234184146425f" /><Relationship Type="http://schemas.openxmlformats.org/officeDocument/2006/relationships/notesMaster" Target="/ppt/notesMasters/notesMaster1.xml" Id="R17062c3d9ef940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d2e001802a4817" /><Relationship Type="http://schemas.openxmlformats.org/officeDocument/2006/relationships/notesMaster" Target="/ppt/notesMasters/notesMaster1.xml" Id="R4f80573bec37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bfa94a35094fce" /><Relationship Type="http://schemas.openxmlformats.org/officeDocument/2006/relationships/notesMaster" Target="/ppt/notesMasters/notesMaster1.xml" Id="R42bc29ad8fb8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bd7e0f22484523" /><Relationship Type="http://schemas.openxmlformats.org/officeDocument/2006/relationships/notesMaster" Target="/ppt/notesMasters/notesMaster1.xml" Id="R5ef22538af474a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3a3b73cb8546a2" /><Relationship Type="http://schemas.openxmlformats.org/officeDocument/2006/relationships/notesMaster" Target="/ppt/notesMasters/notesMaster1.xml" Id="R292edd0cce4a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b252dbb0b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1098c357a4d49" /><Relationship Type="http://schemas.openxmlformats.org/officeDocument/2006/relationships/slideLayout" Target="/ppt/slideLayouts/slideLayout1.xml" Id="R187719cc73754f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719cc73754f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caba0211b4c9e" /><Relationship Type="http://schemas.openxmlformats.org/officeDocument/2006/relationships/image" Target="/ppt/media/image.png" Id="R57d29d24dedd48a7" /><Relationship Type="http://schemas.openxmlformats.org/officeDocument/2006/relationships/notesSlide" Target="/ppt/notesSlides/notesSlide1.xml" Id="R146ed5881766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97b6ae8764116" /><Relationship Type="http://schemas.openxmlformats.org/officeDocument/2006/relationships/notesSlide" Target="/ppt/notesSlides/notesSlide2.xml" Id="R884cd150c196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33fc15b814272" /><Relationship Type="http://schemas.openxmlformats.org/officeDocument/2006/relationships/notesSlide" Target="/ppt/notesSlides/notesSlide3.xml" Id="Re657a76fd33a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b5bc31c774afb" /><Relationship Type="http://schemas.openxmlformats.org/officeDocument/2006/relationships/image" Target="/ppt/media/image2.png" Id="Rb7a9816a32fd4dac" /><Relationship Type="http://schemas.openxmlformats.org/officeDocument/2006/relationships/image" Target="/ppt/media/image3.png" Id="R14d42e0907034d66" /><Relationship Type="http://schemas.openxmlformats.org/officeDocument/2006/relationships/notesSlide" Target="/ppt/notesSlides/notesSlide4.xml" Id="R40e9b56e3a5542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06fa35051457a" /><Relationship Type="http://schemas.openxmlformats.org/officeDocument/2006/relationships/image" Target="/ppt/media/image4.png" Id="Ra100ea0a30a44563" /><Relationship Type="http://schemas.openxmlformats.org/officeDocument/2006/relationships/image" Target="/ppt/media/image5.png" Id="R0b1c31290fb74590" /><Relationship Type="http://schemas.openxmlformats.org/officeDocument/2006/relationships/notesSlide" Target="/ppt/notesSlides/notesSlide5.xml" Id="R314223440135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d3b41d2064758" /><Relationship Type="http://schemas.openxmlformats.org/officeDocument/2006/relationships/image" Target="/ppt/media/image6.png" Id="R7de3086fdf984d17" /><Relationship Type="http://schemas.openxmlformats.org/officeDocument/2006/relationships/notesSlide" Target="/ppt/notesSlides/notesSlide6.xml" Id="Rd177f753adf244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e501546d45aa" /><Relationship Type="http://schemas.openxmlformats.org/officeDocument/2006/relationships/image" Target="/ppt/media/image7.png" Id="Rf5933c9a5dab419b" /><Relationship Type="http://schemas.openxmlformats.org/officeDocument/2006/relationships/notesSlide" Target="/ppt/notesSlides/notesSlide7.xml" Id="R2fb7d3e9f801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fcf856a44174" /><Relationship Type="http://schemas.openxmlformats.org/officeDocument/2006/relationships/image" Target="/ppt/media/image8.png" Id="Rbf2cc6254fb34f3a" /><Relationship Type="http://schemas.openxmlformats.org/officeDocument/2006/relationships/image" Target="/ppt/media/image9.png" Id="R86416bb882474f85" /><Relationship Type="http://schemas.openxmlformats.org/officeDocument/2006/relationships/notesSlide" Target="/ppt/notesSlides/notesSlide8.xml" Id="R71d1964420f448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ff248505f4467" /><Relationship Type="http://schemas.openxmlformats.org/officeDocument/2006/relationships/image" Target="/ppt/media/image10.png" Id="R78c14166469a4336" /><Relationship Type="http://schemas.openxmlformats.org/officeDocument/2006/relationships/notesSlide" Target="/ppt/notesSlides/notesSlide9.xml" Id="R46be2b4babc0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fc56d4a514880" /><Relationship Type="http://schemas.openxmlformats.org/officeDocument/2006/relationships/notesSlide" Target="/ppt/notesSlides/notesSlide10.xml" Id="Re84020c9c095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4F698-CCB1-41C0-BA73-810E99F6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DB836-5C1E-4F13-8155-EF6062CC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AIRPORT NOISE AND</a:t>
            </a:r>
          </a:p>
          <a:p xmlns:a="http://schemas.openxmlformats.org/drawingml/2006/main">
            <a:pPr algn="l">
              <a:def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HOUSING MARKET</a:t>
            </a:r>
          </a:p>
          <a:p xmlns:a="http://schemas.openxmlformats.org/drawingml/2006/main">
            <a:pPr algn="l">
              <a:def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61510-21DD-48AC-8DA6-FE44591D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Property values around Salinas and Watsonville airports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8204A-7C61-42C7-8F69-9562A29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Lara Gunseli Safak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91C2-B1D2-4B02-8D03-E53066A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Data visualisation and investment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C4B76-C2A8-4C43-AE8D-39BCA75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790575"/>
            <a:ext cx="527685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9d24dedd48a7"/>
          <a:srcRect xmlns:a="http://schemas.openxmlformats.org/drawingml/2006/main" l="16989" t="0" r="169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800100"/>
            <a:ext cx="525780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CA52F-2E53-4F00-A056-EAF8706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86450"/>
            <a:ext cx="5257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0083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0CB03-E836-4B00-B99E-8921B39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33E34-FC64-4C83-BC3E-A26E970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B4D7C-10F8-4623-9B2F-DA00EF4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5753A-274B-44A1-BEB3-63B0604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rPr>
              <a:t>2,119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2A937-A873-46C7-8CFB-2C7C698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properties analysed after cleaning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D2F29-9BB1-4625-8AE4-73970DA0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668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1115-E4D0-4344-90E7-06183189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rPr>
              <a:t>-0.088 / -0.089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CD785-D8CE-4414-867D-1D67310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within-market noise-price correlations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B8D36-22E9-4A29-AA97-83EEBE19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E7CC9-7F9F-44A8-91E8-69FA5B79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$176.7k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F9F40-F39F-48F3-8CB4-98E45B3D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difference in average market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D8459-ED93-4566-A84A-08CA450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The apparent noise premium is misleading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5373B-0D69-49B6-A49F-88A5D673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Pooling the two markets produces a positive correlation because Watsonville is both noisier and more expensive.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BE51C-73B9-4CB1-8604-B75F038F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Property characteristics matter more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23153-E9F8-41CC-A1F6-468F35B2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Square footage, property age, and neighbourhood explain much more of the observed price variation than noise or distance.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273E0-C051-4A5E-8B0A-B95A8E7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82779-C936-46C6-BA49-32CA436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Investment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A0006-53F4-47C4-98E5-0C02743D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Continue to detailed feasibility work, with greater attention to unit size, design quality, planning constraints, and project economics.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1E5C5-2DB3-4922-8E77-7647E0E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9058E-BE01-4B21-BE14-BDD3D29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9E482-6415-4560-8453-42ABA67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30055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09765-39A9-487F-835F-19ABE04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Business question and analytical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B1AC0-7B3B-407D-A340-251A2C7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3AD4-BF57-43CE-8C83-BBB8D88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FFF8E-FD8E-4B05-B151-A778D09D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PDC is considering a residential development near a municipal airport. The analysis tests whether noise and proximity could materially affect property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332DD-C965-4B83-BF82-8032FBF6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13457-1067-4FC8-9B53-B03D002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945A4-BE8A-453A-BE33-13E20738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Salinas and Watsonville property records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Zillow value estimates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CNEL noise contours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Driving distance to each airport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Property size, age, bedrooms, and neighbourhood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E10A2-E5E5-4BF2-9570-8A48B5F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FA2AE-DD95-4D15-B814-2C797DA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Market-level comparisons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Pooled and within-market correlations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Noise Depreciation Index estimates</a:t>
            </a:r>
          </a:p>
          <a:p xmlns:a="http://schemas.openxmlformats.org/drawingml/2006/main">
            <a:pPr algn="l">
              <a:def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Confounder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BF50-C363-4D99-8470-5B66C27F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rPr>
              <a:t>Core decision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CC259-47F6-4514-8C5A-0689B3D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If noise and proximity explain little after separating the markets, PDC should focus its feasibility work on the property and location factors that show stronger relationships with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F309F-A303-42CA-A4B6-8EEBA14D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C0582-3D4E-4096-A9A6-9784A42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F066-886A-425A-A370-05A4646B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5605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60800-487B-4F30-BFFC-91A868E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Two distinct housing markets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8324D-CA5C-427A-899F-FEC4959B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273DB-9AA6-4A85-8C70-B7A72E26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B04D5-C123-4D4D-AF92-4DF1CEE2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5353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9816a32fd4dac"/>
          <a:stretch xmlns:a="http://schemas.openxmlformats.org/drawingml/2006/main"/>
        </p:blipFill>
        <p:spPr>
          <a:xfrm xmlns:a="http://schemas.openxmlformats.org/drawingml/2006/main">
            <a:off x="557213" y="1257300"/>
            <a:ext cx="5286375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9A96-C680-4193-9DEB-AE75BEE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47775"/>
            <a:ext cx="5448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42e0907034d66"/>
          <a:stretch xmlns:a="http://schemas.openxmlformats.org/drawingml/2006/main"/>
        </p:blipFill>
        <p:spPr>
          <a:xfrm xmlns:a="http://schemas.openxmlformats.org/drawingml/2006/main">
            <a:off x="6261629" y="1257300"/>
            <a:ext cx="5364692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01ABF-64B2-4F22-9447-4266C468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Salinas average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3797C-CFC9-4820-9F8E-90EFFEC5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rPr>
              <a:t>$412,076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8C02A-22ED-4FF6-AF98-0518445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Watsonville average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F185-DC90-4E17-B435-55E2D9D5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57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rPr>
              <a:t>$588,758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C134F-F8BA-4205-8EB2-585C0FB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Distance shows little relationship with value in Salinas and only a modest positive pattern in Watsonville. Market-level differences dominate the pooled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E021B-8EF2-4DAE-B723-4C2D70B5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EA77D-9567-4840-921B-CB940765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B3380-CEBC-4100-94EF-160D2BF8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66174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0D204-D611-445C-93B3-AE14A408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Market structure reverses the pooled noise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D358E-02E0-4F30-85E9-558FC73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111D-A067-4589-AFA2-D59099E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644CF-1085-4310-BAE5-C01328A0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47775"/>
            <a:ext cx="5314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0ea0a30a44563"/>
          <a:stretch xmlns:a="http://schemas.openxmlformats.org/drawingml/2006/main"/>
        </p:blipFill>
        <p:spPr>
          <a:xfrm xmlns:a="http://schemas.openxmlformats.org/drawingml/2006/main">
            <a:off x="514350" y="1259609"/>
            <a:ext cx="5295900" cy="36910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400F2-766F-43C2-B764-7C3C428C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247775"/>
            <a:ext cx="5486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c31290fb74590"/>
          <a:stretch xmlns:a="http://schemas.openxmlformats.org/drawingml/2006/main"/>
        </p:blipFill>
        <p:spPr>
          <a:xfrm xmlns:a="http://schemas.openxmlformats.org/drawingml/2006/main">
            <a:off x="6191250" y="1362203"/>
            <a:ext cx="5467350" cy="34858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260DC-13CF-42F5-AB70-8019162E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rPr>
              <a:t>Pooled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ABE8B-FCA1-431B-A3FC-7A79EE9C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r = 0.324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7897D-7E8F-4B37-8214-1AAF2B71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Driven by Watsonville's higher prices and higher noise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A25B9-61BE-4E7F-90FA-49E06FA9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Within-market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E51F8-8694-4B15-AD36-0F4D4799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r = -0.088 / -0.089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A361E-7381-4F5D-B8BE-AADE1EA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006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Both relationships are weak and negative once the markets are separated.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A9B26-ED90-443E-9079-8461B91D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86DCD-3E6F-4E1E-BA20-6E91680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20C18-2A74-4292-95BE-691912D0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3787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12BB-2E4B-4FDE-9D64-DFC3E979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Noise Depreciation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F34D0-BFD7-447C-AFEE-E5906050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7A599-4E3B-4BA2-B469-258039B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F50C4-4C45-4F31-9427-7F46F924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85875"/>
            <a:ext cx="62103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3086fdf984d17"/>
          <a:stretch xmlns:a="http://schemas.openxmlformats.org/drawingml/2006/main"/>
        </p:blipFill>
        <p:spPr>
          <a:xfrm xmlns:a="http://schemas.openxmlformats.org/drawingml/2006/main">
            <a:off x="514350" y="1436828"/>
            <a:ext cx="6191250" cy="423199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161C0-8E7E-4346-9475-B405123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2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Salinas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B7733-F8B0-4D9C-8A12-76B2526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Estimated price penalties remain closer to zero, indicating a flatter descriptive relationship across noise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F4605-134C-400D-9145-8366FC7A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Watsonville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191D8-48C2-4B7C-B9EB-912D6523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The highest band approaches the upper edge of the reference range, but the pattern remains based on a small subset of properties.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E0C95-10EB-43C0-87C8-B4A5D90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40DA3-23F0-4AC1-8234-B0D19B3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The NDI supports a limited noise effect, but sparse high-noise observations and omitted property differences reduce precision.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916A9-930F-4082-B8BC-EEDBB1D5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EC1C5-617B-49F7-B370-6A5A9DF8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7194-99A1-4ECA-949D-A536E24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260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8E528-CDFA-4380-A979-22B9259D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Property size dominates price variation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08134-9260-437A-A4AD-1A6FB21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141BA-4D16-4A69-A59B-BF16DC4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2CEA1-68B5-4E13-83F3-5BEF576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09675"/>
            <a:ext cx="68770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33c9a5dab419b"/>
          <a:stretch xmlns:a="http://schemas.openxmlformats.org/drawingml/2006/main"/>
        </p:blipFill>
        <p:spPr>
          <a:xfrm xmlns:a="http://schemas.openxmlformats.org/drawingml/2006/main">
            <a:off x="514350" y="1350893"/>
            <a:ext cx="6858000" cy="44229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81F37-43DB-453A-A4A3-6127441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28725"/>
            <a:ext cx="6838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86510-9CA4-41A1-83FA-475B6F92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Property value by square footage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86363-9049-4636-99C5-BC1DCB9E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E86AB"/>
                </a:solidFill>
                <a:latin typeface="Bitstream Charter"/>
                <a:ea typeface="Bitstream Charter"/>
                <a:cs typeface="Bitstream Charter"/>
              </a:rPr>
              <a:t>r = 0.60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BF372-BBE9-4573-BDDD-2B1A6EEB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Pooled correlation between square footage and property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FC5BA-CF1C-463E-908B-01A74F3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Consistent relationship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B18F5-D2A4-44A0-B1B1-7CF33F9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Larger properties command higher values in both markets, with a nearly linear pattern.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B98DB-E66B-403B-970F-FCD1589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Market 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CF78E-4076-442B-9CEF-0D4EB0E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Watsonville properties sit at a higher price level for a given amount of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12A49-D319-47FB-B55A-257CF828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C6A09-CD16-4E63-AFC5-871058A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BAC30-3EC3-4155-A86B-4ADC4FED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4585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97C2F-8440-4576-8B8A-90F9523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Age and neighbourhood add local variation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6DEB-71AF-4912-83B7-D9E68F8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ED11B-0339-4701-9CDE-1D9D7D0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CAE14-3609-4A9D-B4EB-3B824C4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47775"/>
            <a:ext cx="52387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cc6254fb34f3a"/>
          <a:stretch xmlns:a="http://schemas.openxmlformats.org/drawingml/2006/main"/>
        </p:blipFill>
        <p:spPr>
          <a:xfrm xmlns:a="http://schemas.openxmlformats.org/drawingml/2006/main">
            <a:off x="514350" y="1368829"/>
            <a:ext cx="5219700" cy="370124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1F386-A45D-455B-8975-1C845516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247775"/>
            <a:ext cx="55626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16bb882474f85"/>
          <a:stretch xmlns:a="http://schemas.openxmlformats.org/drawingml/2006/main"/>
        </p:blipFill>
        <p:spPr>
          <a:xfrm xmlns:a="http://schemas.openxmlformats.org/drawingml/2006/main">
            <a:off x="6115050" y="1300529"/>
            <a:ext cx="5543550" cy="38378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32DA0-676C-4A59-8AA2-D57EA3B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Older properties tend to have lower estimated values in both markets, although size remains the stronger relationship.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D4B3B-737E-4F5F-90F7-DCC13FB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Watsonville neighbourhoods occupy a higher price range, reinforcing the importance of local market 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E8BED-A838-4367-AE38-806D3B4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D8FC1-4D87-4FE1-A4BA-00A0475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A9851-84DE-4745-99C1-26C5083B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4454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E5DFA-7B8D-456B-8E84-77BCDB51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Correlation view of the main value drivers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91027-2A33-4CFF-A72C-C2D9202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61042-9CAE-4F47-921E-38FAA3B2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75965-4C47-478A-8130-F3EB14B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47775"/>
            <a:ext cx="62103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5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14166469a4336"/>
          <a:stretch xmlns:a="http://schemas.openxmlformats.org/drawingml/2006/main"/>
        </p:blipFill>
        <p:spPr>
          <a:xfrm xmlns:a="http://schemas.openxmlformats.org/drawingml/2006/main">
            <a:off x="514350" y="1445489"/>
            <a:ext cx="6191250" cy="423372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BBACB-A42F-40AF-9FD0-D1A0871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F4246-0739-4301-9E7B-9227DA2B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Square footage (r = 0.60), bathrooms (r = 0.50), and bedrooms (r = 0.40) have the strongest positive relationships with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CBC49-1680-4697-B021-6A027441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06701-286C-41D7-8FE6-0904CBB8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528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Property age has a negative correlation with value (r = -0.45).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44F0A-9D5A-453C-8F74-41CFF79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Distance and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4D153-144A-43E8-A9A7-5EE7B614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Distance contributes little (r = 0.08). The pooled noise figure (r = 0.32) remains confounded by the market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A663B-4A5F-4E37-AE38-55D3D861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02F9B-D524-4FDA-9110-900EDB90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9C1B0-D822-4013-8B5B-B59D3178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14214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3D59B-ED73-4447-8B40-F468C1A9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Investment recommendation and remaining evidence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E7696-6EC1-4ACB-AB39-DD41078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A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EDDE-E2AF-4295-B5F3-992E2C7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ED1B6-6514-4BA5-9F59-68B68814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34BE5-22F4-4959-9E83-F2DD6930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0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Proceed to detailed feasibility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C4967-1B57-4C6F-AD64-4C77483B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430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Noise and airport proximity do not appear to be the main constraints on value in the benchmark markets.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345E7-7421-42A4-848C-CB7FCD16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687A45"/>
                </a:solidFill>
                <a:latin typeface="Bitstream Charter"/>
                <a:ea typeface="Bitstream Charter"/>
                <a:cs typeface="Bitstream Charter"/>
              </a:rPr>
              <a:t>Focus the next stage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E4799-BC15-4B7C-80B2-F4EFCEC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Unit size and usable space</a:t>
            </a:r>
          </a:p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Design quality and target segment</a:t>
            </a:r>
          </a:p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Neighbourhood positioning</a:t>
            </a:r>
          </a:p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Zoning and planning requirements</a:t>
            </a:r>
          </a:p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Construction costs and expected returns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F315F-B6C4-4F53-A49A-ADEFAE6A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19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AFEE6-794C-4D6F-8C5B-76A2D84C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A23B72"/>
                </a:solidFill>
                <a:latin typeface="Bitstream Charter"/>
                <a:ea typeface="Bitstream Charter"/>
                <a:cs typeface="Bitstream Charter"/>
              </a:rPr>
              <a:t>Evidence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2CF7D-E5E3-463D-AD98-E7584C4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6"/>
                </a:solidFill>
                <a:latin typeface="Bitstream Charter"/>
                <a:ea typeface="Bitstream Charter"/>
                <a:cs typeface="Bitstream Charter"/>
              </a:rPr>
              <a:t>The analysis is observational and uses modelled outdoor noise contours. The market samples are unbalanced, and few homes fall in the highest noise bands. A final decision also requires site-specific planning, valuation, and financial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B914F-933F-4C7F-ADF0-A31F64F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ED0B3-A3D0-45A8-9D70-F8FAAC68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Airport Noise and Housing Market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C5365-306A-4F02-BB0B-822AE9A6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F686D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9811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2026-09-12T19:50:23.2540000Z</dcterms:created>
  <dcterms:modified xsi:type="dcterms:W3CDTF">2026-09-12T19:50:23.2540000Z</dcterms:modified>
</coreProperties>
</file>